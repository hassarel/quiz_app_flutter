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inotype Feltpen Medium" charset="1" panose="03030606020000020004"/>
      <p:regular r:id="rId18"/>
    </p:embeddedFont>
    <p:embeddedFont>
      <p:font typeface="Vollkorn" charset="1" panose="000005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315" y="3238172"/>
            <a:ext cx="8893375" cy="3427992"/>
          </a:xfrm>
          <a:custGeom>
            <a:avLst/>
            <a:gdLst/>
            <a:ahLst/>
            <a:cxnLst/>
            <a:rect r="r" b="b" t="t" l="l"/>
            <a:pathLst>
              <a:path h="3427992" w="8893375">
                <a:moveTo>
                  <a:pt x="0" y="0"/>
                </a:moveTo>
                <a:lnTo>
                  <a:pt x="8893376" y="0"/>
                </a:lnTo>
                <a:lnTo>
                  <a:pt x="8893376" y="3427992"/>
                </a:lnTo>
                <a:lnTo>
                  <a:pt x="0" y="342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17357">
            <a:off x="5990467" y="3841651"/>
            <a:ext cx="6967415" cy="277220"/>
            <a:chOff x="0" y="0"/>
            <a:chExt cx="3807445" cy="1514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8632" y="20408"/>
              <a:ext cx="3674808" cy="109310"/>
            </a:xfrm>
            <a:custGeom>
              <a:avLst/>
              <a:gdLst/>
              <a:ahLst/>
              <a:cxnLst/>
              <a:rect r="r" b="b" t="t" l="l"/>
              <a:pathLst>
                <a:path h="109310" w="3674808">
                  <a:moveTo>
                    <a:pt x="77676" y="46543"/>
                  </a:moveTo>
                  <a:cubicBezTo>
                    <a:pt x="931425" y="15337"/>
                    <a:pt x="1714602" y="6259"/>
                    <a:pt x="2229261" y="2855"/>
                  </a:cubicBezTo>
                  <a:cubicBezTo>
                    <a:pt x="2663021" y="-550"/>
                    <a:pt x="3206942" y="-1117"/>
                    <a:pt x="3430706" y="2287"/>
                  </a:cubicBezTo>
                  <a:cubicBezTo>
                    <a:pt x="3516770" y="3422"/>
                    <a:pt x="3570129" y="1720"/>
                    <a:pt x="3611439" y="7961"/>
                  </a:cubicBezTo>
                  <a:cubicBezTo>
                    <a:pt x="3637259" y="11365"/>
                    <a:pt x="3654471" y="17039"/>
                    <a:pt x="3663078" y="24415"/>
                  </a:cubicBezTo>
                  <a:cubicBezTo>
                    <a:pt x="3675127" y="33493"/>
                    <a:pt x="3675127" y="50515"/>
                    <a:pt x="3663078" y="59593"/>
                  </a:cubicBezTo>
                  <a:cubicBezTo>
                    <a:pt x="3654471" y="66969"/>
                    <a:pt x="3632095" y="72643"/>
                    <a:pt x="3611439" y="76047"/>
                  </a:cubicBezTo>
                  <a:cubicBezTo>
                    <a:pt x="3589063" y="79451"/>
                    <a:pt x="3561523" y="81153"/>
                    <a:pt x="3537425" y="78884"/>
                  </a:cubicBezTo>
                  <a:cubicBezTo>
                    <a:pt x="3509885" y="76047"/>
                    <a:pt x="3468574" y="65267"/>
                    <a:pt x="3456526" y="55621"/>
                  </a:cubicBezTo>
                  <a:cubicBezTo>
                    <a:pt x="3444477" y="45976"/>
                    <a:pt x="3451362" y="29522"/>
                    <a:pt x="3468574" y="21011"/>
                  </a:cubicBezTo>
                  <a:cubicBezTo>
                    <a:pt x="3485787" y="11933"/>
                    <a:pt x="3532261" y="4557"/>
                    <a:pt x="3563244" y="4557"/>
                  </a:cubicBezTo>
                  <a:cubicBezTo>
                    <a:pt x="3594227" y="4557"/>
                    <a:pt x="3638980" y="12500"/>
                    <a:pt x="3657914" y="21011"/>
                  </a:cubicBezTo>
                  <a:cubicBezTo>
                    <a:pt x="3675127" y="29522"/>
                    <a:pt x="3680290" y="46543"/>
                    <a:pt x="3668241" y="56189"/>
                  </a:cubicBezTo>
                  <a:cubicBezTo>
                    <a:pt x="3657914" y="65267"/>
                    <a:pt x="3637259" y="72643"/>
                    <a:pt x="3587342" y="78884"/>
                  </a:cubicBezTo>
                  <a:cubicBezTo>
                    <a:pt x="3399724" y="101012"/>
                    <a:pt x="2528762" y="68104"/>
                    <a:pt x="2058856" y="69238"/>
                  </a:cubicBezTo>
                  <a:cubicBezTo>
                    <a:pt x="1654358" y="70373"/>
                    <a:pt x="1280842" y="73777"/>
                    <a:pt x="933146" y="81153"/>
                  </a:cubicBezTo>
                  <a:cubicBezTo>
                    <a:pt x="630203" y="87395"/>
                    <a:pt x="205050" y="114629"/>
                    <a:pt x="86282" y="108388"/>
                  </a:cubicBezTo>
                  <a:cubicBezTo>
                    <a:pt x="53578" y="106118"/>
                    <a:pt x="41529" y="103849"/>
                    <a:pt x="26038" y="98742"/>
                  </a:cubicBezTo>
                  <a:cubicBezTo>
                    <a:pt x="12268" y="94203"/>
                    <a:pt x="219" y="85693"/>
                    <a:pt x="219" y="78884"/>
                  </a:cubicBezTo>
                  <a:cubicBezTo>
                    <a:pt x="-1503" y="72075"/>
                    <a:pt x="7104" y="62997"/>
                    <a:pt x="20874" y="57891"/>
                  </a:cubicBezTo>
                  <a:cubicBezTo>
                    <a:pt x="32923" y="52784"/>
                    <a:pt x="77676" y="46543"/>
                    <a:pt x="77676" y="46543"/>
                  </a:cubicBezTo>
                </a:path>
              </a:pathLst>
            </a:custGeom>
            <a:solidFill>
              <a:srgbClr val="F2B70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773936" y="176915"/>
            <a:ext cx="199967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spc="-100" b="tru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5IIR 10</a:t>
            </a:r>
          </a:p>
        </p:txBody>
      </p:sp>
      <p:grpSp>
        <p:nvGrpSpPr>
          <p:cNvPr name="Group 6" id="6"/>
          <p:cNvGrpSpPr/>
          <p:nvPr/>
        </p:nvGrpSpPr>
        <p:grpSpPr>
          <a:xfrm rot="63054">
            <a:off x="15775016" y="882452"/>
            <a:ext cx="1557569" cy="131976"/>
            <a:chOff x="0" y="0"/>
            <a:chExt cx="4001920" cy="339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138" y="45680"/>
              <a:ext cx="3862508" cy="244675"/>
            </a:xfrm>
            <a:custGeom>
              <a:avLst/>
              <a:gdLst/>
              <a:ahLst/>
              <a:cxnLst/>
              <a:rect r="r" b="b" t="t" l="l"/>
              <a:pathLst>
                <a:path h="244675" w="3862508">
                  <a:moveTo>
                    <a:pt x="81643" y="104180"/>
                  </a:moveTo>
                  <a:cubicBezTo>
                    <a:pt x="978999" y="34330"/>
                    <a:pt x="1802179" y="14010"/>
                    <a:pt x="2343126" y="6390"/>
                  </a:cubicBezTo>
                  <a:cubicBezTo>
                    <a:pt x="2799041" y="-1230"/>
                    <a:pt x="3370744" y="-2500"/>
                    <a:pt x="3605938" y="5120"/>
                  </a:cubicBezTo>
                  <a:cubicBezTo>
                    <a:pt x="3696397" y="7660"/>
                    <a:pt x="3752482" y="3850"/>
                    <a:pt x="3795903" y="17820"/>
                  </a:cubicBezTo>
                  <a:cubicBezTo>
                    <a:pt x="3823041" y="25440"/>
                    <a:pt x="3841132" y="38140"/>
                    <a:pt x="3850178" y="54650"/>
                  </a:cubicBezTo>
                  <a:cubicBezTo>
                    <a:pt x="3862842" y="74970"/>
                    <a:pt x="3862842" y="113070"/>
                    <a:pt x="3850178" y="133390"/>
                  </a:cubicBezTo>
                  <a:cubicBezTo>
                    <a:pt x="3841132" y="149900"/>
                    <a:pt x="3817613" y="162600"/>
                    <a:pt x="3795903" y="170220"/>
                  </a:cubicBezTo>
                  <a:cubicBezTo>
                    <a:pt x="3772383" y="177840"/>
                    <a:pt x="3743436" y="181650"/>
                    <a:pt x="3718108" y="176570"/>
                  </a:cubicBezTo>
                  <a:cubicBezTo>
                    <a:pt x="3689161" y="170220"/>
                    <a:pt x="3645740" y="146090"/>
                    <a:pt x="3633076" y="124500"/>
                  </a:cubicBezTo>
                  <a:cubicBezTo>
                    <a:pt x="3620412" y="102910"/>
                    <a:pt x="3627648" y="66080"/>
                    <a:pt x="3645740" y="47030"/>
                  </a:cubicBezTo>
                  <a:cubicBezTo>
                    <a:pt x="3663832" y="26710"/>
                    <a:pt x="3712680" y="10200"/>
                    <a:pt x="3745245" y="10200"/>
                  </a:cubicBezTo>
                  <a:cubicBezTo>
                    <a:pt x="3777811" y="10200"/>
                    <a:pt x="3824850" y="27980"/>
                    <a:pt x="3844751" y="47030"/>
                  </a:cubicBezTo>
                  <a:cubicBezTo>
                    <a:pt x="3862842" y="66080"/>
                    <a:pt x="3868270" y="104180"/>
                    <a:pt x="3855606" y="125770"/>
                  </a:cubicBezTo>
                  <a:cubicBezTo>
                    <a:pt x="3844751" y="146090"/>
                    <a:pt x="3823041" y="162600"/>
                    <a:pt x="3770574" y="176570"/>
                  </a:cubicBezTo>
                  <a:cubicBezTo>
                    <a:pt x="3573373" y="226100"/>
                    <a:pt x="2657924" y="152440"/>
                    <a:pt x="2164016" y="154980"/>
                  </a:cubicBezTo>
                  <a:cubicBezTo>
                    <a:pt x="1738858" y="157520"/>
                    <a:pt x="1346264" y="165140"/>
                    <a:pt x="980808" y="181650"/>
                  </a:cubicBezTo>
                  <a:cubicBezTo>
                    <a:pt x="662392" y="195620"/>
                    <a:pt x="215523" y="256580"/>
                    <a:pt x="90689" y="242610"/>
                  </a:cubicBezTo>
                  <a:cubicBezTo>
                    <a:pt x="56314" y="237530"/>
                    <a:pt x="43650" y="232450"/>
                    <a:pt x="27367" y="221020"/>
                  </a:cubicBezTo>
                  <a:cubicBezTo>
                    <a:pt x="12894" y="210860"/>
                    <a:pt x="229" y="191810"/>
                    <a:pt x="229" y="176570"/>
                  </a:cubicBezTo>
                  <a:cubicBezTo>
                    <a:pt x="-1580" y="161330"/>
                    <a:pt x="7466" y="141010"/>
                    <a:pt x="21940" y="129580"/>
                  </a:cubicBezTo>
                  <a:cubicBezTo>
                    <a:pt x="34604" y="118150"/>
                    <a:pt x="81643" y="104180"/>
                    <a:pt x="81643" y="104180"/>
                  </a:cubicBezTo>
                </a:path>
              </a:pathLst>
            </a:custGeom>
            <a:solidFill>
              <a:srgbClr val="3D687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70606" y="85398"/>
            <a:ext cx="6824960" cy="1689177"/>
          </a:xfrm>
          <a:custGeom>
            <a:avLst/>
            <a:gdLst/>
            <a:ahLst/>
            <a:cxnLst/>
            <a:rect r="r" b="b" t="t" l="l"/>
            <a:pathLst>
              <a:path h="1689177" w="6824960">
                <a:moveTo>
                  <a:pt x="0" y="0"/>
                </a:moveTo>
                <a:lnTo>
                  <a:pt x="6824959" y="0"/>
                </a:lnTo>
                <a:lnTo>
                  <a:pt x="6824959" y="1689178"/>
                </a:lnTo>
                <a:lnTo>
                  <a:pt x="0" y="1689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9049" y="2569829"/>
            <a:ext cx="15570251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6"/>
              </a:lnSpc>
              <a:spcBef>
                <a:spcPct val="0"/>
              </a:spcBef>
            </a:pPr>
            <a:r>
              <a:rPr lang="en-US" b="true" sz="9255" spc="-185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Projet Mobile </a:t>
            </a:r>
            <a:r>
              <a:rPr lang="en-US" b="true" sz="9255" spc="-185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Flutter</a:t>
            </a:r>
          </a:p>
          <a:p>
            <a:pPr algn="ctr" marL="0" indent="0" lvl="0">
              <a:lnSpc>
                <a:spcPts val="11106"/>
              </a:lnSpc>
              <a:spcBef>
                <a:spcPct val="0"/>
              </a:spcBef>
            </a:pPr>
            <a:r>
              <a:rPr lang="en-US" b="true" sz="9255" spc="-185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 Application de Quiz Éducatif Mobile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544" y="8219107"/>
            <a:ext cx="5267062" cy="194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Réaliser par :</a:t>
            </a:r>
          </a:p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FILALA Yassine</a:t>
            </a:r>
          </a:p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HASSAR EL Mehdi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09542" y="8454691"/>
            <a:ext cx="3928586" cy="129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Encadré par :</a:t>
            </a:r>
          </a:p>
          <a:p>
            <a:pPr algn="ctr" marL="0" indent="0" lvl="0">
              <a:lnSpc>
                <a:spcPts val="5199"/>
              </a:lnSpc>
              <a:spcBef>
                <a:spcPct val="0"/>
              </a:spcBef>
            </a:pPr>
            <a:r>
              <a:rPr lang="en-US" sz="3999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Anass DEROUSSI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0747" y="9708817"/>
            <a:ext cx="3124676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Date : 25/12/2025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8285222" y="1868106"/>
          <a:ext cx="10002778" cy="7390194"/>
        </p:xfrm>
        <a:graphic>
          <a:graphicData uri="http://schemas.openxmlformats.org/drawingml/2006/table">
            <a:tbl>
              <a:tblPr/>
              <a:tblGrid>
                <a:gridCol w="1467884"/>
                <a:gridCol w="8534894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Introduction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Problematique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Analyse et Conception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Visuel de l’application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Conclusion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8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D6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0" y="0"/>
            <a:ext cx="8371836" cy="10287000"/>
            <a:chOff x="0" y="0"/>
            <a:chExt cx="220492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49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04928">
                  <a:moveTo>
                    <a:pt x="0" y="0"/>
                  </a:moveTo>
                  <a:lnTo>
                    <a:pt x="2204928" y="0"/>
                  </a:lnTo>
                  <a:lnTo>
                    <a:pt x="22049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3F5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04928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406470"/>
            <a:ext cx="2536280" cy="940729"/>
          </a:xfrm>
          <a:custGeom>
            <a:avLst/>
            <a:gdLst/>
            <a:ahLst/>
            <a:cxnLst/>
            <a:rect r="r" b="b" t="t" l="l"/>
            <a:pathLst>
              <a:path h="940729" w="2536280">
                <a:moveTo>
                  <a:pt x="0" y="0"/>
                </a:moveTo>
                <a:lnTo>
                  <a:pt x="2536280" y="0"/>
                </a:lnTo>
                <a:lnTo>
                  <a:pt x="2536280" y="940729"/>
                </a:lnTo>
                <a:lnTo>
                  <a:pt x="0" y="940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01378">
            <a:off x="3974106" y="5365544"/>
            <a:ext cx="2406844" cy="1111524"/>
          </a:xfrm>
          <a:custGeom>
            <a:avLst/>
            <a:gdLst/>
            <a:ahLst/>
            <a:cxnLst/>
            <a:rect r="r" b="b" t="t" l="l"/>
            <a:pathLst>
              <a:path h="1111524" w="2406844">
                <a:moveTo>
                  <a:pt x="0" y="0"/>
                </a:moveTo>
                <a:lnTo>
                  <a:pt x="2406844" y="0"/>
                </a:lnTo>
                <a:lnTo>
                  <a:pt x="2406844" y="1111524"/>
                </a:lnTo>
                <a:lnTo>
                  <a:pt x="0" y="1111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8817" y="3246556"/>
            <a:ext cx="470798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spc="-17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Plan de 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817" y="4347199"/>
            <a:ext cx="713301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spc="-180" b="tru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présentation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803" y="2232677"/>
            <a:ext cx="17161318" cy="741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709" indent="-410354" lvl="1">
              <a:lnSpc>
                <a:spcPts val="4941"/>
              </a:lnSpc>
              <a:buFont typeface="Arial"/>
              <a:buChar char="•"/>
            </a:pPr>
            <a:r>
              <a:rPr lang="en-US" sz="380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Dans le contexte actuel, l’apprentissage num</a:t>
            </a:r>
            <a:r>
              <a:rPr lang="en-US" sz="380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érique est devenu un pilier essentiel du système éducatif.</a:t>
            </a:r>
          </a:p>
          <a:p>
            <a:pPr algn="l" marL="820709" indent="-410354" lvl="1">
              <a:lnSpc>
                <a:spcPts val="4941"/>
              </a:lnSpc>
              <a:buFont typeface="Arial"/>
              <a:buChar char="•"/>
            </a:pPr>
            <a:r>
              <a:rPr lang="en-US" sz="380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Avec la généralisation des smartphones, les applications mobiles représentent un moyen efficace pour apprendre de manière interactive, flexible et accessible.</a:t>
            </a:r>
          </a:p>
          <a:p>
            <a:pPr algn="l" marL="820709" indent="-410354" lvl="1">
              <a:lnSpc>
                <a:spcPts val="4941"/>
              </a:lnSpc>
              <a:buFont typeface="Arial"/>
              <a:buChar char="•"/>
            </a:pPr>
            <a:r>
              <a:rPr lang="en-US" sz="380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Ce projet consiste à concevoir et développer une application mobile de quiz éducatif, permettant aux utilisateurs de tester et renforcer leurs connaissances à travers des quiz organisés par niveaux, avec un suivi des performances et une interface moderne.</a:t>
            </a:r>
          </a:p>
          <a:p>
            <a:pPr algn="l" marL="820709" indent="-410354" lvl="1">
              <a:lnSpc>
                <a:spcPts val="4941"/>
              </a:lnSpc>
              <a:buFont typeface="Arial"/>
              <a:buChar char="•"/>
            </a:pPr>
            <a:r>
              <a:rPr lang="en-US" sz="380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L’application a été développée en utilisant Flutter, un framework de développement mobile multiplateforme.</a:t>
            </a:r>
          </a:p>
          <a:p>
            <a:pPr algn="l">
              <a:lnSpc>
                <a:spcPts val="494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817553" y="1374867"/>
            <a:ext cx="6536150" cy="210146"/>
            <a:chOff x="0" y="0"/>
            <a:chExt cx="9300503" cy="299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7650" y="40283"/>
              <a:ext cx="8976507" cy="215764"/>
            </a:xfrm>
            <a:custGeom>
              <a:avLst/>
              <a:gdLst/>
              <a:ahLst/>
              <a:cxnLst/>
              <a:rect r="r" b="b" t="t" l="l"/>
              <a:pathLst>
                <a:path h="215764" w="8976507">
                  <a:moveTo>
                    <a:pt x="189738" y="91870"/>
                  </a:moveTo>
                  <a:cubicBezTo>
                    <a:pt x="2275204" y="30273"/>
                    <a:pt x="4188282" y="12354"/>
                    <a:pt x="5445448" y="5634"/>
                  </a:cubicBezTo>
                  <a:cubicBezTo>
                    <a:pt x="6504999" y="-1085"/>
                    <a:pt x="7833642" y="-2205"/>
                    <a:pt x="8380236" y="4514"/>
                  </a:cubicBezTo>
                  <a:cubicBezTo>
                    <a:pt x="8590464" y="6754"/>
                    <a:pt x="8720806" y="3395"/>
                    <a:pt x="8821715" y="15714"/>
                  </a:cubicBezTo>
                  <a:cubicBezTo>
                    <a:pt x="8884784" y="22433"/>
                    <a:pt x="8926830" y="33633"/>
                    <a:pt x="8947853" y="48192"/>
                  </a:cubicBezTo>
                  <a:cubicBezTo>
                    <a:pt x="8977284" y="66111"/>
                    <a:pt x="8977284" y="99709"/>
                    <a:pt x="8947853" y="117628"/>
                  </a:cubicBezTo>
                  <a:cubicBezTo>
                    <a:pt x="8926830" y="132187"/>
                    <a:pt x="8872170" y="143387"/>
                    <a:pt x="8821715" y="150106"/>
                  </a:cubicBezTo>
                  <a:cubicBezTo>
                    <a:pt x="8767056" y="156826"/>
                    <a:pt x="8699783" y="160186"/>
                    <a:pt x="8640919" y="155706"/>
                  </a:cubicBezTo>
                  <a:cubicBezTo>
                    <a:pt x="8573647" y="150106"/>
                    <a:pt x="8472737" y="128828"/>
                    <a:pt x="8443304" y="109789"/>
                  </a:cubicBezTo>
                  <a:cubicBezTo>
                    <a:pt x="8413873" y="90750"/>
                    <a:pt x="8430690" y="58271"/>
                    <a:pt x="8472737" y="41472"/>
                  </a:cubicBezTo>
                  <a:cubicBezTo>
                    <a:pt x="8514782" y="23553"/>
                    <a:pt x="8628305" y="8994"/>
                    <a:pt x="8703988" y="8994"/>
                  </a:cubicBezTo>
                  <a:cubicBezTo>
                    <a:pt x="8779670" y="8994"/>
                    <a:pt x="8888989" y="24673"/>
                    <a:pt x="8935239" y="41472"/>
                  </a:cubicBezTo>
                  <a:cubicBezTo>
                    <a:pt x="8977284" y="58271"/>
                    <a:pt x="8989898" y="91870"/>
                    <a:pt x="8960466" y="110909"/>
                  </a:cubicBezTo>
                  <a:cubicBezTo>
                    <a:pt x="8935239" y="128828"/>
                    <a:pt x="8884784" y="143387"/>
                    <a:pt x="8762852" y="155706"/>
                  </a:cubicBezTo>
                  <a:cubicBezTo>
                    <a:pt x="8304554" y="199384"/>
                    <a:pt x="6177043" y="134427"/>
                    <a:pt x="5029196" y="136667"/>
                  </a:cubicBezTo>
                  <a:cubicBezTo>
                    <a:pt x="4041122" y="138907"/>
                    <a:pt x="3128731" y="145627"/>
                    <a:pt x="2279408" y="160186"/>
                  </a:cubicBezTo>
                  <a:cubicBezTo>
                    <a:pt x="1539404" y="172505"/>
                    <a:pt x="500876" y="226262"/>
                    <a:pt x="210761" y="213943"/>
                  </a:cubicBezTo>
                  <a:cubicBezTo>
                    <a:pt x="130874" y="209463"/>
                    <a:pt x="101442" y="204983"/>
                    <a:pt x="63601" y="194904"/>
                  </a:cubicBezTo>
                  <a:cubicBezTo>
                    <a:pt x="29965" y="185944"/>
                    <a:pt x="533" y="169145"/>
                    <a:pt x="533" y="155706"/>
                  </a:cubicBezTo>
                  <a:cubicBezTo>
                    <a:pt x="-3672" y="142267"/>
                    <a:pt x="17351" y="124348"/>
                    <a:pt x="50987" y="114268"/>
                  </a:cubicBezTo>
                  <a:cubicBezTo>
                    <a:pt x="80419" y="104189"/>
                    <a:pt x="189738" y="91870"/>
                    <a:pt x="189738" y="91870"/>
                  </a:cubicBezTo>
                </a:path>
              </a:pathLst>
            </a:custGeom>
            <a:solidFill>
              <a:srgbClr val="F2B70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-10706862">
            <a:off x="12745089" y="424214"/>
            <a:ext cx="813577" cy="1323868"/>
          </a:xfrm>
          <a:custGeom>
            <a:avLst/>
            <a:gdLst/>
            <a:ahLst/>
            <a:cxnLst/>
            <a:rect r="r" b="b" t="t" l="l"/>
            <a:pathLst>
              <a:path h="1323868" w="813577">
                <a:moveTo>
                  <a:pt x="0" y="0"/>
                </a:moveTo>
                <a:lnTo>
                  <a:pt x="813577" y="0"/>
                </a:lnTo>
                <a:lnTo>
                  <a:pt x="813577" y="1323868"/>
                </a:lnTo>
                <a:lnTo>
                  <a:pt x="0" y="132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78670" y="88992"/>
            <a:ext cx="761391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 spc="-18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9803" y="443004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30985">
            <a:off x="-4841999" y="2963827"/>
            <a:ext cx="11741398" cy="10247039"/>
          </a:xfrm>
          <a:custGeom>
            <a:avLst/>
            <a:gdLst/>
            <a:ahLst/>
            <a:cxnLst/>
            <a:rect r="r" b="b" t="t" l="l"/>
            <a:pathLst>
              <a:path h="10247039" w="11741398">
                <a:moveTo>
                  <a:pt x="0" y="0"/>
                </a:moveTo>
                <a:lnTo>
                  <a:pt x="11741398" y="0"/>
                </a:lnTo>
                <a:lnTo>
                  <a:pt x="11741398" y="10247039"/>
                </a:lnTo>
                <a:lnTo>
                  <a:pt x="0" y="10247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721">
            <a:off x="849949" y="4727701"/>
            <a:ext cx="2468312" cy="5323811"/>
          </a:xfrm>
          <a:custGeom>
            <a:avLst/>
            <a:gdLst/>
            <a:ahLst/>
            <a:cxnLst/>
            <a:rect r="r" b="b" t="t" l="l"/>
            <a:pathLst>
              <a:path h="5323811" w="2468312">
                <a:moveTo>
                  <a:pt x="0" y="0"/>
                </a:moveTo>
                <a:lnTo>
                  <a:pt x="2468312" y="0"/>
                </a:lnTo>
                <a:lnTo>
                  <a:pt x="2468312" y="5323811"/>
                </a:lnTo>
                <a:lnTo>
                  <a:pt x="0" y="5323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9561" y="199960"/>
            <a:ext cx="1451051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 spc="-18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Problématique</a:t>
            </a:r>
          </a:p>
          <a:p>
            <a:pPr algn="l">
              <a:lnSpc>
                <a:spcPts val="108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18713" y="431800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50819" y="3731477"/>
            <a:ext cx="11820279" cy="636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8" indent="-421009" lvl="1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L’a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ppre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ntissage cla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ssi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que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souvent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ssif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peu eng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age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ant</a:t>
            </a:r>
          </a:p>
          <a:p>
            <a:pPr algn="l" marL="842018" indent="-421009" lvl="1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es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étudi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ma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nque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d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 mot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iv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on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d’in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rac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vi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té</a:t>
            </a:r>
          </a:p>
          <a:p>
            <a:pPr algn="l" marL="842018" indent="-421009" lvl="1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Il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xi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pe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u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d’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pp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ication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éd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u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cat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v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sim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les, g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r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atuit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es 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ibles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h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or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l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ig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ne</a:t>
            </a:r>
          </a:p>
          <a:p>
            <a:pPr algn="l" marL="842018" indent="-421009" lvl="1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 su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iv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 des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er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fo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r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m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an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pe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rson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nelles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es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o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uve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a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bs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nt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ou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limi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</a:t>
            </a:r>
            <a:r>
              <a:rPr lang="en-US" sz="3900" strike="noStrike" u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é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</a:p>
          <a:p>
            <a:pPr algn="l">
              <a:lnSpc>
                <a:spcPts val="507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9561" y="2346895"/>
            <a:ext cx="17652642" cy="116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Malgré la diversité des méthodes d’apprentissage, plusieurs problèmes persisten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76711" y="1028700"/>
            <a:ext cx="3809000" cy="183697"/>
            <a:chOff x="0" y="0"/>
            <a:chExt cx="9300503" cy="448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7650" y="60425"/>
              <a:ext cx="8976507" cy="323647"/>
            </a:xfrm>
            <a:custGeom>
              <a:avLst/>
              <a:gdLst/>
              <a:ahLst/>
              <a:cxnLst/>
              <a:rect r="r" b="b" t="t" l="l"/>
              <a:pathLst>
                <a:path h="323647" w="8976507">
                  <a:moveTo>
                    <a:pt x="189738" y="137804"/>
                  </a:moveTo>
                  <a:cubicBezTo>
                    <a:pt x="2275204" y="45409"/>
                    <a:pt x="4188282" y="18531"/>
                    <a:pt x="5445448" y="8451"/>
                  </a:cubicBezTo>
                  <a:cubicBezTo>
                    <a:pt x="6504999" y="-1628"/>
                    <a:pt x="7833642" y="-3308"/>
                    <a:pt x="8380236" y="6771"/>
                  </a:cubicBezTo>
                  <a:cubicBezTo>
                    <a:pt x="8590464" y="10131"/>
                    <a:pt x="8720806" y="5092"/>
                    <a:pt x="8821715" y="23571"/>
                  </a:cubicBezTo>
                  <a:cubicBezTo>
                    <a:pt x="8884784" y="33650"/>
                    <a:pt x="8926830" y="50449"/>
                    <a:pt x="8947853" y="72288"/>
                  </a:cubicBezTo>
                  <a:cubicBezTo>
                    <a:pt x="8977284" y="99167"/>
                    <a:pt x="8977284" y="149564"/>
                    <a:pt x="8947853" y="176442"/>
                  </a:cubicBezTo>
                  <a:cubicBezTo>
                    <a:pt x="8926830" y="198281"/>
                    <a:pt x="8872170" y="215080"/>
                    <a:pt x="8821715" y="225160"/>
                  </a:cubicBezTo>
                  <a:cubicBezTo>
                    <a:pt x="8767056" y="235239"/>
                    <a:pt x="8699783" y="240279"/>
                    <a:pt x="8640919" y="233559"/>
                  </a:cubicBezTo>
                  <a:cubicBezTo>
                    <a:pt x="8573647" y="225160"/>
                    <a:pt x="8472737" y="193242"/>
                    <a:pt x="8443304" y="164683"/>
                  </a:cubicBezTo>
                  <a:cubicBezTo>
                    <a:pt x="8413873" y="136125"/>
                    <a:pt x="8430690" y="87407"/>
                    <a:pt x="8472737" y="62209"/>
                  </a:cubicBezTo>
                  <a:cubicBezTo>
                    <a:pt x="8514782" y="35330"/>
                    <a:pt x="8628305" y="13491"/>
                    <a:pt x="8703988" y="13491"/>
                  </a:cubicBezTo>
                  <a:cubicBezTo>
                    <a:pt x="8779670" y="13491"/>
                    <a:pt x="8888989" y="37010"/>
                    <a:pt x="8935239" y="62209"/>
                  </a:cubicBezTo>
                  <a:cubicBezTo>
                    <a:pt x="8977284" y="87407"/>
                    <a:pt x="8989898" y="137804"/>
                    <a:pt x="8960466" y="166363"/>
                  </a:cubicBezTo>
                  <a:cubicBezTo>
                    <a:pt x="8935239" y="193242"/>
                    <a:pt x="8884784" y="215080"/>
                    <a:pt x="8762852" y="233559"/>
                  </a:cubicBezTo>
                  <a:cubicBezTo>
                    <a:pt x="8304554" y="299076"/>
                    <a:pt x="6177043" y="201641"/>
                    <a:pt x="5029196" y="205001"/>
                  </a:cubicBezTo>
                  <a:cubicBezTo>
                    <a:pt x="4041122" y="208361"/>
                    <a:pt x="3128731" y="218440"/>
                    <a:pt x="2279408" y="240279"/>
                  </a:cubicBezTo>
                  <a:cubicBezTo>
                    <a:pt x="1539404" y="258758"/>
                    <a:pt x="500876" y="339394"/>
                    <a:pt x="210761" y="320915"/>
                  </a:cubicBezTo>
                  <a:cubicBezTo>
                    <a:pt x="130874" y="314195"/>
                    <a:pt x="101442" y="307475"/>
                    <a:pt x="63601" y="292356"/>
                  </a:cubicBezTo>
                  <a:cubicBezTo>
                    <a:pt x="29965" y="278917"/>
                    <a:pt x="533" y="253718"/>
                    <a:pt x="533" y="233559"/>
                  </a:cubicBezTo>
                  <a:cubicBezTo>
                    <a:pt x="-3672" y="213400"/>
                    <a:pt x="17351" y="186522"/>
                    <a:pt x="50987" y="171403"/>
                  </a:cubicBezTo>
                  <a:cubicBezTo>
                    <a:pt x="80419" y="156284"/>
                    <a:pt x="189738" y="137804"/>
                    <a:pt x="189738" y="137804"/>
                  </a:cubicBezTo>
                </a:path>
              </a:pathLst>
            </a:custGeom>
            <a:solidFill>
              <a:srgbClr val="F2B70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10238782">
            <a:off x="12520301" y="550463"/>
            <a:ext cx="813577" cy="1323868"/>
          </a:xfrm>
          <a:custGeom>
            <a:avLst/>
            <a:gdLst/>
            <a:ahLst/>
            <a:cxnLst/>
            <a:rect r="r" b="b" t="t" l="l"/>
            <a:pathLst>
              <a:path h="1323868" w="813577">
                <a:moveTo>
                  <a:pt x="0" y="0"/>
                </a:moveTo>
                <a:lnTo>
                  <a:pt x="813577" y="0"/>
                </a:lnTo>
                <a:lnTo>
                  <a:pt x="813577" y="1323868"/>
                </a:lnTo>
                <a:lnTo>
                  <a:pt x="0" y="132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13174" y="-130175"/>
            <a:ext cx="7613916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0"/>
              </a:lnSpc>
            </a:pPr>
            <a:r>
              <a:rPr lang="en-US" b="true" sz="8300" spc="-166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Solution Proposée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9801" y="3017350"/>
            <a:ext cx="7290462" cy="433329"/>
            <a:chOff x="0" y="0"/>
            <a:chExt cx="1920122" cy="11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122" cy="114128"/>
            </a:xfrm>
            <a:custGeom>
              <a:avLst/>
              <a:gdLst/>
              <a:ahLst/>
              <a:cxnLst/>
              <a:rect r="r" b="b" t="t" l="l"/>
              <a:pathLst>
                <a:path h="114128" w="1920122">
                  <a:moveTo>
                    <a:pt x="53760" y="0"/>
                  </a:moveTo>
                  <a:lnTo>
                    <a:pt x="1866362" y="0"/>
                  </a:lnTo>
                  <a:cubicBezTo>
                    <a:pt x="1896052" y="0"/>
                    <a:pt x="1920122" y="24069"/>
                    <a:pt x="1920122" y="53760"/>
                  </a:cubicBezTo>
                  <a:lnTo>
                    <a:pt x="1920122" y="60368"/>
                  </a:lnTo>
                  <a:cubicBezTo>
                    <a:pt x="1920122" y="90059"/>
                    <a:pt x="1896052" y="114128"/>
                    <a:pt x="1866362" y="114128"/>
                  </a:cubicBezTo>
                  <a:lnTo>
                    <a:pt x="53760" y="114128"/>
                  </a:lnTo>
                  <a:cubicBezTo>
                    <a:pt x="24069" y="114128"/>
                    <a:pt x="0" y="90059"/>
                    <a:pt x="0" y="60368"/>
                  </a:cubicBezTo>
                  <a:lnTo>
                    <a:pt x="0" y="53760"/>
                  </a:lnTo>
                  <a:cubicBezTo>
                    <a:pt x="0" y="24069"/>
                    <a:pt x="24069" y="0"/>
                    <a:pt x="53760" y="0"/>
                  </a:cubicBezTo>
                  <a:close/>
                </a:path>
              </a:pathLst>
            </a:custGeom>
            <a:solidFill>
              <a:srgbClr val="F2B70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122" cy="142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9801" y="2184665"/>
            <a:ext cx="16539499" cy="1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🔹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 P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our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 répondre à 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c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ett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e 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problématique, nous avons 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d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éveloppé 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u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ne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 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applic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at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ion d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e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 quiz éduca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t</a:t>
            </a:r>
            <a:r>
              <a:rPr lang="en-US" b="true" sz="4099" strike="noStrike" u="non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if mobile qui offre :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8801484">
            <a:off x="702841" y="4149678"/>
            <a:ext cx="787192" cy="847272"/>
          </a:xfrm>
          <a:custGeom>
            <a:avLst/>
            <a:gdLst/>
            <a:ahLst/>
            <a:cxnLst/>
            <a:rect r="r" b="b" t="t" l="l"/>
            <a:pathLst>
              <a:path h="847272" w="787192">
                <a:moveTo>
                  <a:pt x="787193" y="0"/>
                </a:moveTo>
                <a:lnTo>
                  <a:pt x="0" y="0"/>
                </a:lnTo>
                <a:lnTo>
                  <a:pt x="0" y="847272"/>
                </a:lnTo>
                <a:lnTo>
                  <a:pt x="787193" y="847272"/>
                </a:lnTo>
                <a:lnTo>
                  <a:pt x="7871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9801" y="264011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92548">
            <a:off x="3712347" y="7725215"/>
            <a:ext cx="11741398" cy="10247039"/>
          </a:xfrm>
          <a:custGeom>
            <a:avLst/>
            <a:gdLst/>
            <a:ahLst/>
            <a:cxnLst/>
            <a:rect r="r" b="b" t="t" l="l"/>
            <a:pathLst>
              <a:path h="10247039" w="11741398">
                <a:moveTo>
                  <a:pt x="0" y="0"/>
                </a:moveTo>
                <a:lnTo>
                  <a:pt x="11741398" y="0"/>
                </a:lnTo>
                <a:lnTo>
                  <a:pt x="11741398" y="10247039"/>
                </a:lnTo>
                <a:lnTo>
                  <a:pt x="0" y="10247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3074" y="4237624"/>
            <a:ext cx="16524599" cy="569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518" indent="-313259" lvl="1">
              <a:lnSpc>
                <a:spcPts val="6500"/>
              </a:lnSpc>
              <a:buFont typeface="Arial"/>
              <a:buChar char="•"/>
            </a:pPr>
            <a:r>
              <a:rPr lang="en-US" sz="290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qui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 organ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isé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 ni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aux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difficulté (rounds)</a:t>
            </a:r>
          </a:p>
          <a:p>
            <a:pPr algn="l" marL="626518" indent="-313259" lvl="1">
              <a:lnSpc>
                <a:spcPts val="6500"/>
              </a:lnSpc>
              <a:buFont typeface="Arial"/>
              <a:buChar char="•"/>
            </a:pP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système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pro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gression po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 renforcer la concentration</a:t>
            </a:r>
          </a:p>
          <a:p>
            <a:pPr algn="l" marL="626518" indent="-313259" lvl="1">
              <a:lnSpc>
                <a:spcPts val="6500"/>
              </a:lnSpc>
              <a:buFont typeface="Arial"/>
              <a:buChar char="•"/>
            </a:pP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mode hors ligne,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perm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d’uti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l’appli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xion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</a:p>
          <a:p>
            <a:pPr algn="l" marL="626518" indent="-313259" lvl="1">
              <a:lnSpc>
                <a:spcPts val="6500"/>
              </a:lnSpc>
              <a:buFont typeface="Arial"/>
              <a:buChar char="•"/>
            </a:pP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ystème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statistiqu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aillé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pou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suiv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erforman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ces</a:t>
            </a:r>
          </a:p>
          <a:p>
            <a:pPr algn="l" marL="626518" indent="-313259" lvl="1">
              <a:lnSpc>
                <a:spcPts val="6500"/>
              </a:lnSpc>
              <a:buFont typeface="Arial"/>
              <a:buChar char="•"/>
            </a:pP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 interfa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mode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rne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prof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e, in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de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ppli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cation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mobil</a:t>
            </a:r>
            <a:r>
              <a:rPr lang="en-US" sz="290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actuelles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true" flipV="false" rot="8801484">
            <a:off x="702841" y="5031874"/>
            <a:ext cx="787192" cy="847272"/>
          </a:xfrm>
          <a:custGeom>
            <a:avLst/>
            <a:gdLst/>
            <a:ahLst/>
            <a:cxnLst/>
            <a:rect r="r" b="b" t="t" l="l"/>
            <a:pathLst>
              <a:path h="847272" w="787192">
                <a:moveTo>
                  <a:pt x="787193" y="0"/>
                </a:moveTo>
                <a:lnTo>
                  <a:pt x="0" y="0"/>
                </a:lnTo>
                <a:lnTo>
                  <a:pt x="0" y="847272"/>
                </a:lnTo>
                <a:lnTo>
                  <a:pt x="787193" y="847272"/>
                </a:lnTo>
                <a:lnTo>
                  <a:pt x="7871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8801484">
            <a:off x="702841" y="5840185"/>
            <a:ext cx="787192" cy="847272"/>
          </a:xfrm>
          <a:custGeom>
            <a:avLst/>
            <a:gdLst/>
            <a:ahLst/>
            <a:cxnLst/>
            <a:rect r="r" b="b" t="t" l="l"/>
            <a:pathLst>
              <a:path h="847272" w="787192">
                <a:moveTo>
                  <a:pt x="787193" y="0"/>
                </a:moveTo>
                <a:lnTo>
                  <a:pt x="0" y="0"/>
                </a:lnTo>
                <a:lnTo>
                  <a:pt x="0" y="847272"/>
                </a:lnTo>
                <a:lnTo>
                  <a:pt x="787193" y="847272"/>
                </a:lnTo>
                <a:lnTo>
                  <a:pt x="7871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8801484">
            <a:off x="702841" y="6648496"/>
            <a:ext cx="787192" cy="847272"/>
          </a:xfrm>
          <a:custGeom>
            <a:avLst/>
            <a:gdLst/>
            <a:ahLst/>
            <a:cxnLst/>
            <a:rect r="r" b="b" t="t" l="l"/>
            <a:pathLst>
              <a:path h="847272" w="787192">
                <a:moveTo>
                  <a:pt x="787193" y="0"/>
                </a:moveTo>
                <a:lnTo>
                  <a:pt x="0" y="0"/>
                </a:lnTo>
                <a:lnTo>
                  <a:pt x="0" y="847272"/>
                </a:lnTo>
                <a:lnTo>
                  <a:pt x="787193" y="847272"/>
                </a:lnTo>
                <a:lnTo>
                  <a:pt x="7871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8801484">
            <a:off x="702841" y="7530692"/>
            <a:ext cx="787192" cy="847272"/>
          </a:xfrm>
          <a:custGeom>
            <a:avLst/>
            <a:gdLst/>
            <a:ahLst/>
            <a:cxnLst/>
            <a:rect r="r" b="b" t="t" l="l"/>
            <a:pathLst>
              <a:path h="847272" w="787192">
                <a:moveTo>
                  <a:pt x="787193" y="0"/>
                </a:moveTo>
                <a:lnTo>
                  <a:pt x="0" y="0"/>
                </a:lnTo>
                <a:lnTo>
                  <a:pt x="0" y="847271"/>
                </a:lnTo>
                <a:lnTo>
                  <a:pt x="787193" y="847271"/>
                </a:lnTo>
                <a:lnTo>
                  <a:pt x="7871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495" y="2034427"/>
            <a:ext cx="16249893" cy="2910636"/>
          </a:xfrm>
          <a:custGeom>
            <a:avLst/>
            <a:gdLst/>
            <a:ahLst/>
            <a:cxnLst/>
            <a:rect r="r" b="b" t="t" l="l"/>
            <a:pathLst>
              <a:path h="2910636" w="16249893">
                <a:moveTo>
                  <a:pt x="0" y="0"/>
                </a:moveTo>
                <a:lnTo>
                  <a:pt x="16249893" y="0"/>
                </a:lnTo>
                <a:lnTo>
                  <a:pt x="16249893" y="2910636"/>
                </a:lnTo>
                <a:lnTo>
                  <a:pt x="0" y="2910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0" t="0" r="-760" b="-69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60094">
            <a:off x="6279528" y="333773"/>
            <a:ext cx="492613" cy="707407"/>
          </a:xfrm>
          <a:custGeom>
            <a:avLst/>
            <a:gdLst/>
            <a:ahLst/>
            <a:cxnLst/>
            <a:rect r="r" b="b" t="t" l="l"/>
            <a:pathLst>
              <a:path h="707407" w="492613">
                <a:moveTo>
                  <a:pt x="0" y="0"/>
                </a:moveTo>
                <a:lnTo>
                  <a:pt x="492612" y="0"/>
                </a:lnTo>
                <a:lnTo>
                  <a:pt x="492612" y="707407"/>
                </a:lnTo>
                <a:lnTo>
                  <a:pt x="0" y="707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75925" y="674426"/>
            <a:ext cx="7075033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spc="-10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Technologies Utilisées</a:t>
            </a:r>
          </a:p>
          <a:p>
            <a:pPr algn="ctr">
              <a:lnSpc>
                <a:spcPts val="60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875925" y="1561994"/>
            <a:ext cx="6536150" cy="210146"/>
            <a:chOff x="0" y="0"/>
            <a:chExt cx="9300503" cy="299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7650" y="40283"/>
              <a:ext cx="8976507" cy="215764"/>
            </a:xfrm>
            <a:custGeom>
              <a:avLst/>
              <a:gdLst/>
              <a:ahLst/>
              <a:cxnLst/>
              <a:rect r="r" b="b" t="t" l="l"/>
              <a:pathLst>
                <a:path h="215764" w="8976507">
                  <a:moveTo>
                    <a:pt x="189738" y="91870"/>
                  </a:moveTo>
                  <a:cubicBezTo>
                    <a:pt x="2275204" y="30273"/>
                    <a:pt x="4188282" y="12354"/>
                    <a:pt x="5445448" y="5634"/>
                  </a:cubicBezTo>
                  <a:cubicBezTo>
                    <a:pt x="6504999" y="-1085"/>
                    <a:pt x="7833642" y="-2205"/>
                    <a:pt x="8380236" y="4514"/>
                  </a:cubicBezTo>
                  <a:cubicBezTo>
                    <a:pt x="8590464" y="6754"/>
                    <a:pt x="8720806" y="3395"/>
                    <a:pt x="8821715" y="15714"/>
                  </a:cubicBezTo>
                  <a:cubicBezTo>
                    <a:pt x="8884784" y="22433"/>
                    <a:pt x="8926830" y="33633"/>
                    <a:pt x="8947853" y="48192"/>
                  </a:cubicBezTo>
                  <a:cubicBezTo>
                    <a:pt x="8977284" y="66111"/>
                    <a:pt x="8977284" y="99709"/>
                    <a:pt x="8947853" y="117628"/>
                  </a:cubicBezTo>
                  <a:cubicBezTo>
                    <a:pt x="8926830" y="132187"/>
                    <a:pt x="8872170" y="143387"/>
                    <a:pt x="8821715" y="150106"/>
                  </a:cubicBezTo>
                  <a:cubicBezTo>
                    <a:pt x="8767056" y="156826"/>
                    <a:pt x="8699783" y="160186"/>
                    <a:pt x="8640919" y="155706"/>
                  </a:cubicBezTo>
                  <a:cubicBezTo>
                    <a:pt x="8573647" y="150106"/>
                    <a:pt x="8472737" y="128828"/>
                    <a:pt x="8443304" y="109789"/>
                  </a:cubicBezTo>
                  <a:cubicBezTo>
                    <a:pt x="8413873" y="90750"/>
                    <a:pt x="8430690" y="58271"/>
                    <a:pt x="8472737" y="41472"/>
                  </a:cubicBezTo>
                  <a:cubicBezTo>
                    <a:pt x="8514782" y="23553"/>
                    <a:pt x="8628305" y="8994"/>
                    <a:pt x="8703988" y="8994"/>
                  </a:cubicBezTo>
                  <a:cubicBezTo>
                    <a:pt x="8779670" y="8994"/>
                    <a:pt x="8888989" y="24673"/>
                    <a:pt x="8935239" y="41472"/>
                  </a:cubicBezTo>
                  <a:cubicBezTo>
                    <a:pt x="8977284" y="58271"/>
                    <a:pt x="8989898" y="91870"/>
                    <a:pt x="8960466" y="110909"/>
                  </a:cubicBezTo>
                  <a:cubicBezTo>
                    <a:pt x="8935239" y="128828"/>
                    <a:pt x="8884784" y="143387"/>
                    <a:pt x="8762852" y="155706"/>
                  </a:cubicBezTo>
                  <a:cubicBezTo>
                    <a:pt x="8304554" y="199384"/>
                    <a:pt x="6177043" y="134427"/>
                    <a:pt x="5029196" y="136667"/>
                  </a:cubicBezTo>
                  <a:cubicBezTo>
                    <a:pt x="4041122" y="138907"/>
                    <a:pt x="3128731" y="145627"/>
                    <a:pt x="2279408" y="160186"/>
                  </a:cubicBezTo>
                  <a:cubicBezTo>
                    <a:pt x="1539404" y="172505"/>
                    <a:pt x="500876" y="226262"/>
                    <a:pt x="210761" y="213943"/>
                  </a:cubicBezTo>
                  <a:cubicBezTo>
                    <a:pt x="130874" y="209463"/>
                    <a:pt x="101442" y="204983"/>
                    <a:pt x="63601" y="194904"/>
                  </a:cubicBezTo>
                  <a:cubicBezTo>
                    <a:pt x="29965" y="185944"/>
                    <a:pt x="533" y="169145"/>
                    <a:pt x="533" y="155706"/>
                  </a:cubicBezTo>
                  <a:cubicBezTo>
                    <a:pt x="-3672" y="142267"/>
                    <a:pt x="17351" y="124348"/>
                    <a:pt x="50987" y="114268"/>
                  </a:cubicBezTo>
                  <a:cubicBezTo>
                    <a:pt x="80419" y="104189"/>
                    <a:pt x="189738" y="91870"/>
                    <a:pt x="189738" y="91870"/>
                  </a:cubicBezTo>
                </a:path>
              </a:pathLst>
            </a:custGeom>
            <a:solidFill>
              <a:srgbClr val="3D687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520542" y="6594025"/>
            <a:ext cx="13075402" cy="3464981"/>
          </a:xfrm>
          <a:custGeom>
            <a:avLst/>
            <a:gdLst/>
            <a:ahLst/>
            <a:cxnLst/>
            <a:rect r="r" b="b" t="t" l="l"/>
            <a:pathLst>
              <a:path h="3464981" w="13075402">
                <a:moveTo>
                  <a:pt x="0" y="0"/>
                </a:moveTo>
                <a:lnTo>
                  <a:pt x="13075401" y="0"/>
                </a:lnTo>
                <a:lnTo>
                  <a:pt x="13075401" y="3464982"/>
                </a:lnTo>
                <a:lnTo>
                  <a:pt x="0" y="3464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75925" y="5203825"/>
            <a:ext cx="6978372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Architecture de l'Application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97037" y="6016625"/>
            <a:ext cx="6536150" cy="210146"/>
            <a:chOff x="0" y="0"/>
            <a:chExt cx="9300503" cy="299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7650" y="40283"/>
              <a:ext cx="8976507" cy="215764"/>
            </a:xfrm>
            <a:custGeom>
              <a:avLst/>
              <a:gdLst/>
              <a:ahLst/>
              <a:cxnLst/>
              <a:rect r="r" b="b" t="t" l="l"/>
              <a:pathLst>
                <a:path h="215764" w="8976507">
                  <a:moveTo>
                    <a:pt x="189738" y="91870"/>
                  </a:moveTo>
                  <a:cubicBezTo>
                    <a:pt x="2275204" y="30273"/>
                    <a:pt x="4188282" y="12354"/>
                    <a:pt x="5445448" y="5634"/>
                  </a:cubicBezTo>
                  <a:cubicBezTo>
                    <a:pt x="6504999" y="-1085"/>
                    <a:pt x="7833642" y="-2205"/>
                    <a:pt x="8380236" y="4514"/>
                  </a:cubicBezTo>
                  <a:cubicBezTo>
                    <a:pt x="8590464" y="6754"/>
                    <a:pt x="8720806" y="3395"/>
                    <a:pt x="8821715" y="15714"/>
                  </a:cubicBezTo>
                  <a:cubicBezTo>
                    <a:pt x="8884784" y="22433"/>
                    <a:pt x="8926830" y="33633"/>
                    <a:pt x="8947853" y="48192"/>
                  </a:cubicBezTo>
                  <a:cubicBezTo>
                    <a:pt x="8977284" y="66111"/>
                    <a:pt x="8977284" y="99709"/>
                    <a:pt x="8947853" y="117628"/>
                  </a:cubicBezTo>
                  <a:cubicBezTo>
                    <a:pt x="8926830" y="132187"/>
                    <a:pt x="8872170" y="143387"/>
                    <a:pt x="8821715" y="150106"/>
                  </a:cubicBezTo>
                  <a:cubicBezTo>
                    <a:pt x="8767056" y="156826"/>
                    <a:pt x="8699783" y="160186"/>
                    <a:pt x="8640919" y="155706"/>
                  </a:cubicBezTo>
                  <a:cubicBezTo>
                    <a:pt x="8573647" y="150106"/>
                    <a:pt x="8472737" y="128828"/>
                    <a:pt x="8443304" y="109789"/>
                  </a:cubicBezTo>
                  <a:cubicBezTo>
                    <a:pt x="8413873" y="90750"/>
                    <a:pt x="8430690" y="58271"/>
                    <a:pt x="8472737" y="41472"/>
                  </a:cubicBezTo>
                  <a:cubicBezTo>
                    <a:pt x="8514782" y="23553"/>
                    <a:pt x="8628305" y="8994"/>
                    <a:pt x="8703988" y="8994"/>
                  </a:cubicBezTo>
                  <a:cubicBezTo>
                    <a:pt x="8779670" y="8994"/>
                    <a:pt x="8888989" y="24673"/>
                    <a:pt x="8935239" y="41472"/>
                  </a:cubicBezTo>
                  <a:cubicBezTo>
                    <a:pt x="8977284" y="58271"/>
                    <a:pt x="8989898" y="91870"/>
                    <a:pt x="8960466" y="110909"/>
                  </a:cubicBezTo>
                  <a:cubicBezTo>
                    <a:pt x="8935239" y="128828"/>
                    <a:pt x="8884784" y="143387"/>
                    <a:pt x="8762852" y="155706"/>
                  </a:cubicBezTo>
                  <a:cubicBezTo>
                    <a:pt x="8304554" y="199384"/>
                    <a:pt x="6177043" y="134427"/>
                    <a:pt x="5029196" y="136667"/>
                  </a:cubicBezTo>
                  <a:cubicBezTo>
                    <a:pt x="4041122" y="138907"/>
                    <a:pt x="3128731" y="145627"/>
                    <a:pt x="2279408" y="160186"/>
                  </a:cubicBezTo>
                  <a:cubicBezTo>
                    <a:pt x="1539404" y="172505"/>
                    <a:pt x="500876" y="226262"/>
                    <a:pt x="210761" y="213943"/>
                  </a:cubicBezTo>
                  <a:cubicBezTo>
                    <a:pt x="130874" y="209463"/>
                    <a:pt x="101442" y="204983"/>
                    <a:pt x="63601" y="194904"/>
                  </a:cubicBezTo>
                  <a:cubicBezTo>
                    <a:pt x="29965" y="185944"/>
                    <a:pt x="533" y="169145"/>
                    <a:pt x="533" y="155706"/>
                  </a:cubicBezTo>
                  <a:cubicBezTo>
                    <a:pt x="-3672" y="142267"/>
                    <a:pt x="17351" y="124348"/>
                    <a:pt x="50987" y="114268"/>
                  </a:cubicBezTo>
                  <a:cubicBezTo>
                    <a:pt x="80419" y="104189"/>
                    <a:pt x="189738" y="91870"/>
                    <a:pt x="189738" y="91870"/>
                  </a:cubicBezTo>
                </a:path>
              </a:pathLst>
            </a:custGeom>
            <a:solidFill>
              <a:srgbClr val="3D687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2960094">
            <a:off x="5200821" y="5008676"/>
            <a:ext cx="492613" cy="707407"/>
          </a:xfrm>
          <a:custGeom>
            <a:avLst/>
            <a:gdLst/>
            <a:ahLst/>
            <a:cxnLst/>
            <a:rect r="r" b="b" t="t" l="l"/>
            <a:pathLst>
              <a:path h="707407" w="492613">
                <a:moveTo>
                  <a:pt x="0" y="0"/>
                </a:moveTo>
                <a:lnTo>
                  <a:pt x="492613" y="0"/>
                </a:lnTo>
                <a:lnTo>
                  <a:pt x="492613" y="707407"/>
                </a:lnTo>
                <a:lnTo>
                  <a:pt x="0" y="707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19801" y="264011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53820"/>
            <a:ext cx="18288000" cy="6504480"/>
          </a:xfrm>
          <a:custGeom>
            <a:avLst/>
            <a:gdLst/>
            <a:ahLst/>
            <a:cxnLst/>
            <a:rect r="r" b="b" t="t" l="l"/>
            <a:pathLst>
              <a:path h="6504480" w="18288000">
                <a:moveTo>
                  <a:pt x="0" y="0"/>
                </a:moveTo>
                <a:lnTo>
                  <a:pt x="18288000" y="0"/>
                </a:lnTo>
                <a:lnTo>
                  <a:pt x="18288000" y="6504480"/>
                </a:lnTo>
                <a:lnTo>
                  <a:pt x="0" y="6504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9561" y="10620"/>
            <a:ext cx="1451051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 spc="-18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Fonctionnalités Clés</a:t>
            </a:r>
          </a:p>
          <a:p>
            <a:pPr algn="l">
              <a:lnSpc>
                <a:spcPts val="108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19801" y="264011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02678">
            <a:off x="803466" y="222321"/>
            <a:ext cx="450469" cy="646887"/>
          </a:xfrm>
          <a:custGeom>
            <a:avLst/>
            <a:gdLst/>
            <a:ahLst/>
            <a:cxnLst/>
            <a:rect r="r" b="b" t="t" l="l"/>
            <a:pathLst>
              <a:path h="646887" w="450469">
                <a:moveTo>
                  <a:pt x="0" y="0"/>
                </a:moveTo>
                <a:lnTo>
                  <a:pt x="450468" y="0"/>
                </a:lnTo>
                <a:lnTo>
                  <a:pt x="450468" y="646887"/>
                </a:lnTo>
                <a:lnTo>
                  <a:pt x="0" y="646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48093"/>
            <a:ext cx="6536150" cy="210146"/>
            <a:chOff x="0" y="0"/>
            <a:chExt cx="9300503" cy="299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7650" y="40283"/>
              <a:ext cx="8976507" cy="215764"/>
            </a:xfrm>
            <a:custGeom>
              <a:avLst/>
              <a:gdLst/>
              <a:ahLst/>
              <a:cxnLst/>
              <a:rect r="r" b="b" t="t" l="l"/>
              <a:pathLst>
                <a:path h="215764" w="8976507">
                  <a:moveTo>
                    <a:pt x="189738" y="91870"/>
                  </a:moveTo>
                  <a:cubicBezTo>
                    <a:pt x="2275204" y="30273"/>
                    <a:pt x="4188282" y="12354"/>
                    <a:pt x="5445448" y="5634"/>
                  </a:cubicBezTo>
                  <a:cubicBezTo>
                    <a:pt x="6504999" y="-1085"/>
                    <a:pt x="7833642" y="-2205"/>
                    <a:pt x="8380236" y="4514"/>
                  </a:cubicBezTo>
                  <a:cubicBezTo>
                    <a:pt x="8590464" y="6754"/>
                    <a:pt x="8720806" y="3395"/>
                    <a:pt x="8821715" y="15714"/>
                  </a:cubicBezTo>
                  <a:cubicBezTo>
                    <a:pt x="8884784" y="22433"/>
                    <a:pt x="8926830" y="33633"/>
                    <a:pt x="8947853" y="48192"/>
                  </a:cubicBezTo>
                  <a:cubicBezTo>
                    <a:pt x="8977284" y="66111"/>
                    <a:pt x="8977284" y="99709"/>
                    <a:pt x="8947853" y="117628"/>
                  </a:cubicBezTo>
                  <a:cubicBezTo>
                    <a:pt x="8926830" y="132187"/>
                    <a:pt x="8872170" y="143387"/>
                    <a:pt x="8821715" y="150106"/>
                  </a:cubicBezTo>
                  <a:cubicBezTo>
                    <a:pt x="8767056" y="156826"/>
                    <a:pt x="8699783" y="160186"/>
                    <a:pt x="8640919" y="155706"/>
                  </a:cubicBezTo>
                  <a:cubicBezTo>
                    <a:pt x="8573647" y="150106"/>
                    <a:pt x="8472737" y="128828"/>
                    <a:pt x="8443304" y="109789"/>
                  </a:cubicBezTo>
                  <a:cubicBezTo>
                    <a:pt x="8413873" y="90750"/>
                    <a:pt x="8430690" y="58271"/>
                    <a:pt x="8472737" y="41472"/>
                  </a:cubicBezTo>
                  <a:cubicBezTo>
                    <a:pt x="8514782" y="23553"/>
                    <a:pt x="8628305" y="8994"/>
                    <a:pt x="8703988" y="8994"/>
                  </a:cubicBezTo>
                  <a:cubicBezTo>
                    <a:pt x="8779670" y="8994"/>
                    <a:pt x="8888989" y="24673"/>
                    <a:pt x="8935239" y="41472"/>
                  </a:cubicBezTo>
                  <a:cubicBezTo>
                    <a:pt x="8977284" y="58271"/>
                    <a:pt x="8989898" y="91870"/>
                    <a:pt x="8960466" y="110909"/>
                  </a:cubicBezTo>
                  <a:cubicBezTo>
                    <a:pt x="8935239" y="128828"/>
                    <a:pt x="8884784" y="143387"/>
                    <a:pt x="8762852" y="155706"/>
                  </a:cubicBezTo>
                  <a:cubicBezTo>
                    <a:pt x="8304554" y="199384"/>
                    <a:pt x="6177043" y="134427"/>
                    <a:pt x="5029196" y="136667"/>
                  </a:cubicBezTo>
                  <a:cubicBezTo>
                    <a:pt x="4041122" y="138907"/>
                    <a:pt x="3128731" y="145627"/>
                    <a:pt x="2279408" y="160186"/>
                  </a:cubicBezTo>
                  <a:cubicBezTo>
                    <a:pt x="1539404" y="172505"/>
                    <a:pt x="500876" y="226262"/>
                    <a:pt x="210761" y="213943"/>
                  </a:cubicBezTo>
                  <a:cubicBezTo>
                    <a:pt x="130874" y="209463"/>
                    <a:pt x="101442" y="204983"/>
                    <a:pt x="63601" y="194904"/>
                  </a:cubicBezTo>
                  <a:cubicBezTo>
                    <a:pt x="29965" y="185944"/>
                    <a:pt x="533" y="169145"/>
                    <a:pt x="533" y="155706"/>
                  </a:cubicBezTo>
                  <a:cubicBezTo>
                    <a:pt x="-3672" y="142267"/>
                    <a:pt x="17351" y="124348"/>
                    <a:pt x="50987" y="114268"/>
                  </a:cubicBezTo>
                  <a:cubicBezTo>
                    <a:pt x="80419" y="104189"/>
                    <a:pt x="189738" y="91870"/>
                    <a:pt x="189738" y="91870"/>
                  </a:cubicBezTo>
                </a:path>
              </a:pathLst>
            </a:custGeom>
            <a:solidFill>
              <a:srgbClr val="3D687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415470" y="853777"/>
            <a:ext cx="10451831" cy="9285248"/>
          </a:xfrm>
          <a:custGeom>
            <a:avLst/>
            <a:gdLst/>
            <a:ahLst/>
            <a:cxnLst/>
            <a:rect r="r" b="b" t="t" l="l"/>
            <a:pathLst>
              <a:path h="9285248" w="10451831">
                <a:moveTo>
                  <a:pt x="0" y="0"/>
                </a:moveTo>
                <a:lnTo>
                  <a:pt x="10451831" y="0"/>
                </a:lnTo>
                <a:lnTo>
                  <a:pt x="10451831" y="9285248"/>
                </a:lnTo>
                <a:lnTo>
                  <a:pt x="0" y="928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9390" y="233668"/>
            <a:ext cx="761391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0"/>
              </a:lnSpc>
            </a:pPr>
            <a:r>
              <a:rPr lang="en-US" b="true" sz="7300" spc="-146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Conception UML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12004"/>
            <a:ext cx="5609590" cy="181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0"/>
              </a:lnSpc>
            </a:pPr>
            <a:r>
              <a:rPr lang="en-US" sz="3700" spc="-74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Pour modéliser le système, plusieurs diagrammes UML ont été conçus 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390" y="5095875"/>
            <a:ext cx="6083375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608" indent="-431804" lvl="1">
              <a:lnSpc>
                <a:spcPts val="5200"/>
              </a:lnSpc>
              <a:buFont typeface="Arial"/>
              <a:buChar char="•"/>
            </a:pPr>
            <a:r>
              <a:rPr lang="en-US" b="true" sz="400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Diagramme de cas d’utilisation (Use Case):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51193"/>
            <a:ext cx="753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2926" y="1028700"/>
            <a:ext cx="13392115" cy="8870352"/>
          </a:xfrm>
          <a:custGeom>
            <a:avLst/>
            <a:gdLst/>
            <a:ahLst/>
            <a:cxnLst/>
            <a:rect r="r" b="b" t="t" l="l"/>
            <a:pathLst>
              <a:path h="8870352" w="13392115">
                <a:moveTo>
                  <a:pt x="0" y="0"/>
                </a:moveTo>
                <a:lnTo>
                  <a:pt x="13392115" y="0"/>
                </a:lnTo>
                <a:lnTo>
                  <a:pt x="13392115" y="8870352"/>
                </a:lnTo>
                <a:lnTo>
                  <a:pt x="0" y="887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9306" y="374650"/>
            <a:ext cx="5263991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608" indent="-431804" lvl="1">
              <a:lnSpc>
                <a:spcPts val="5200"/>
              </a:lnSpc>
              <a:buFont typeface="Arial"/>
              <a:buChar char="•"/>
            </a:pPr>
            <a:r>
              <a:rPr lang="en-US" b="true" sz="4000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Diagramme de classes: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BE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0652" y="3273321"/>
            <a:ext cx="1265192" cy="90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45368" y="2205252"/>
            <a:ext cx="9438822" cy="394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5"/>
              </a:lnSpc>
            </a:pPr>
            <a:r>
              <a:rPr lang="en-US" sz="12979" spc="-25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Visuel de l’Application</a:t>
            </a:r>
          </a:p>
        </p:txBody>
      </p:sp>
      <p:grpSp>
        <p:nvGrpSpPr>
          <p:cNvPr name="Group 4" id="4"/>
          <p:cNvGrpSpPr/>
          <p:nvPr/>
        </p:nvGrpSpPr>
        <p:grpSpPr>
          <a:xfrm rot="117357">
            <a:off x="4766928" y="6041377"/>
            <a:ext cx="8218050" cy="559233"/>
            <a:chOff x="0" y="0"/>
            <a:chExt cx="3807445" cy="259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8632" y="34904"/>
              <a:ext cx="3674808" cy="186953"/>
            </a:xfrm>
            <a:custGeom>
              <a:avLst/>
              <a:gdLst/>
              <a:ahLst/>
              <a:cxnLst/>
              <a:rect r="r" b="b" t="t" l="l"/>
              <a:pathLst>
                <a:path h="186953" w="3674808">
                  <a:moveTo>
                    <a:pt x="77676" y="79602"/>
                  </a:moveTo>
                  <a:cubicBezTo>
                    <a:pt x="931425" y="26231"/>
                    <a:pt x="1714602" y="10704"/>
                    <a:pt x="2229261" y="4882"/>
                  </a:cubicBezTo>
                  <a:cubicBezTo>
                    <a:pt x="2663021" y="-940"/>
                    <a:pt x="3206942" y="-1911"/>
                    <a:pt x="3430706" y="3912"/>
                  </a:cubicBezTo>
                  <a:cubicBezTo>
                    <a:pt x="3516770" y="5852"/>
                    <a:pt x="3570129" y="2941"/>
                    <a:pt x="3611439" y="13616"/>
                  </a:cubicBezTo>
                  <a:cubicBezTo>
                    <a:pt x="3637259" y="19438"/>
                    <a:pt x="3654471" y="29142"/>
                    <a:pt x="3663078" y="41757"/>
                  </a:cubicBezTo>
                  <a:cubicBezTo>
                    <a:pt x="3675127" y="57283"/>
                    <a:pt x="3675127" y="86395"/>
                    <a:pt x="3663078" y="101921"/>
                  </a:cubicBezTo>
                  <a:cubicBezTo>
                    <a:pt x="3654471" y="114536"/>
                    <a:pt x="3632095" y="124240"/>
                    <a:pt x="3611439" y="130062"/>
                  </a:cubicBezTo>
                  <a:cubicBezTo>
                    <a:pt x="3589063" y="135885"/>
                    <a:pt x="3561523" y="138796"/>
                    <a:pt x="3537425" y="134914"/>
                  </a:cubicBezTo>
                  <a:cubicBezTo>
                    <a:pt x="3509885" y="130062"/>
                    <a:pt x="3468574" y="111625"/>
                    <a:pt x="3456526" y="95128"/>
                  </a:cubicBezTo>
                  <a:cubicBezTo>
                    <a:pt x="3444477" y="78632"/>
                    <a:pt x="3451362" y="50490"/>
                    <a:pt x="3468574" y="35935"/>
                  </a:cubicBezTo>
                  <a:cubicBezTo>
                    <a:pt x="3485787" y="20408"/>
                    <a:pt x="3532261" y="7793"/>
                    <a:pt x="3563244" y="7793"/>
                  </a:cubicBezTo>
                  <a:cubicBezTo>
                    <a:pt x="3594227" y="7793"/>
                    <a:pt x="3638980" y="21379"/>
                    <a:pt x="3657914" y="35935"/>
                  </a:cubicBezTo>
                  <a:cubicBezTo>
                    <a:pt x="3675127" y="50490"/>
                    <a:pt x="3680290" y="79602"/>
                    <a:pt x="3668241" y="96099"/>
                  </a:cubicBezTo>
                  <a:cubicBezTo>
                    <a:pt x="3657914" y="111625"/>
                    <a:pt x="3637259" y="124240"/>
                    <a:pt x="3587342" y="134914"/>
                  </a:cubicBezTo>
                  <a:cubicBezTo>
                    <a:pt x="3399724" y="172760"/>
                    <a:pt x="2528762" y="116477"/>
                    <a:pt x="2058856" y="118418"/>
                  </a:cubicBezTo>
                  <a:cubicBezTo>
                    <a:pt x="1654358" y="120358"/>
                    <a:pt x="1280842" y="126181"/>
                    <a:pt x="933146" y="138796"/>
                  </a:cubicBezTo>
                  <a:cubicBezTo>
                    <a:pt x="630203" y="149470"/>
                    <a:pt x="205050" y="196049"/>
                    <a:pt x="86282" y="185375"/>
                  </a:cubicBezTo>
                  <a:cubicBezTo>
                    <a:pt x="53578" y="181493"/>
                    <a:pt x="41529" y="177611"/>
                    <a:pt x="26038" y="168878"/>
                  </a:cubicBezTo>
                  <a:cubicBezTo>
                    <a:pt x="12268" y="161115"/>
                    <a:pt x="219" y="146559"/>
                    <a:pt x="219" y="134914"/>
                  </a:cubicBezTo>
                  <a:cubicBezTo>
                    <a:pt x="-1503" y="123270"/>
                    <a:pt x="7104" y="107743"/>
                    <a:pt x="20874" y="99010"/>
                  </a:cubicBezTo>
                  <a:cubicBezTo>
                    <a:pt x="32923" y="90276"/>
                    <a:pt x="77676" y="79602"/>
                    <a:pt x="77676" y="79602"/>
                  </a:cubicBezTo>
                </a:path>
              </a:pathLst>
            </a:custGeom>
            <a:solidFill>
              <a:srgbClr val="F2B707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"/>
            <a:ext cx="18288000" cy="9052560"/>
          </a:xfrm>
          <a:custGeom>
            <a:avLst/>
            <a:gdLst/>
            <a:ahLst/>
            <a:cxnLst/>
            <a:rect r="r" b="b" t="t" l="l"/>
            <a:pathLst>
              <a:path h="9052560" w="18288000">
                <a:moveTo>
                  <a:pt x="0" y="0"/>
                </a:moveTo>
                <a:lnTo>
                  <a:pt x="18288000" y="0"/>
                </a:lnTo>
                <a:lnTo>
                  <a:pt x="18288000" y="9052560"/>
                </a:lnTo>
                <a:lnTo>
                  <a:pt x="0" y="9052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3037" y="4225007"/>
            <a:ext cx="5642138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42"/>
              </a:lnSpc>
            </a:pPr>
            <a:r>
              <a:rPr lang="en-US" sz="12952" spc="-259" b="true">
                <a:solidFill>
                  <a:srgbClr val="000000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écoute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07911" y="2768690"/>
            <a:ext cx="9438822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5"/>
              </a:lnSpc>
            </a:pPr>
            <a:r>
              <a:rPr lang="en-US" sz="12979" spc="-25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Merci 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07911" y="4267893"/>
            <a:ext cx="403504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5"/>
              </a:lnSpc>
            </a:pPr>
            <a:r>
              <a:rPr lang="en-US" sz="12979" spc="-259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votre</a:t>
            </a:r>
          </a:p>
        </p:txBody>
      </p:sp>
      <p:grpSp>
        <p:nvGrpSpPr>
          <p:cNvPr name="Group 5" id="5"/>
          <p:cNvGrpSpPr/>
          <p:nvPr/>
        </p:nvGrpSpPr>
        <p:grpSpPr>
          <a:xfrm rot="117357">
            <a:off x="8059322" y="5945141"/>
            <a:ext cx="4884265" cy="434991"/>
            <a:chOff x="0" y="0"/>
            <a:chExt cx="3807445" cy="339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632" y="45680"/>
              <a:ext cx="3674808" cy="244675"/>
            </a:xfrm>
            <a:custGeom>
              <a:avLst/>
              <a:gdLst/>
              <a:ahLst/>
              <a:cxnLst/>
              <a:rect r="r" b="b" t="t" l="l"/>
              <a:pathLst>
                <a:path h="244675" w="3674808">
                  <a:moveTo>
                    <a:pt x="77676" y="104180"/>
                  </a:moveTo>
                  <a:cubicBezTo>
                    <a:pt x="931425" y="34330"/>
                    <a:pt x="1714602" y="14010"/>
                    <a:pt x="2229261" y="6390"/>
                  </a:cubicBezTo>
                  <a:cubicBezTo>
                    <a:pt x="2663021" y="-1230"/>
                    <a:pt x="3206942" y="-2500"/>
                    <a:pt x="3430706" y="5120"/>
                  </a:cubicBezTo>
                  <a:cubicBezTo>
                    <a:pt x="3516770" y="7660"/>
                    <a:pt x="3570129" y="3850"/>
                    <a:pt x="3611439" y="17820"/>
                  </a:cubicBezTo>
                  <a:cubicBezTo>
                    <a:pt x="3637259" y="25440"/>
                    <a:pt x="3654471" y="38140"/>
                    <a:pt x="3663078" y="54650"/>
                  </a:cubicBezTo>
                  <a:cubicBezTo>
                    <a:pt x="3675127" y="74970"/>
                    <a:pt x="3675127" y="113070"/>
                    <a:pt x="3663078" y="133390"/>
                  </a:cubicBezTo>
                  <a:cubicBezTo>
                    <a:pt x="3654471" y="149900"/>
                    <a:pt x="3632095" y="162600"/>
                    <a:pt x="3611439" y="170220"/>
                  </a:cubicBezTo>
                  <a:cubicBezTo>
                    <a:pt x="3589063" y="177840"/>
                    <a:pt x="3561523" y="181650"/>
                    <a:pt x="3537425" y="176570"/>
                  </a:cubicBezTo>
                  <a:cubicBezTo>
                    <a:pt x="3509885" y="170220"/>
                    <a:pt x="3468574" y="146090"/>
                    <a:pt x="3456526" y="124500"/>
                  </a:cubicBezTo>
                  <a:cubicBezTo>
                    <a:pt x="3444477" y="102910"/>
                    <a:pt x="3451362" y="66080"/>
                    <a:pt x="3468574" y="47030"/>
                  </a:cubicBezTo>
                  <a:cubicBezTo>
                    <a:pt x="3485787" y="26710"/>
                    <a:pt x="3532261" y="10200"/>
                    <a:pt x="3563244" y="10200"/>
                  </a:cubicBezTo>
                  <a:cubicBezTo>
                    <a:pt x="3594227" y="10200"/>
                    <a:pt x="3638980" y="27980"/>
                    <a:pt x="3657914" y="47030"/>
                  </a:cubicBezTo>
                  <a:cubicBezTo>
                    <a:pt x="3675127" y="66080"/>
                    <a:pt x="3680290" y="104180"/>
                    <a:pt x="3668241" y="125770"/>
                  </a:cubicBezTo>
                  <a:cubicBezTo>
                    <a:pt x="3657914" y="146090"/>
                    <a:pt x="3637259" y="162600"/>
                    <a:pt x="3587342" y="176570"/>
                  </a:cubicBezTo>
                  <a:cubicBezTo>
                    <a:pt x="3399724" y="226100"/>
                    <a:pt x="2528762" y="152440"/>
                    <a:pt x="2058856" y="154980"/>
                  </a:cubicBezTo>
                  <a:cubicBezTo>
                    <a:pt x="1654358" y="157520"/>
                    <a:pt x="1280842" y="165140"/>
                    <a:pt x="933146" y="181650"/>
                  </a:cubicBezTo>
                  <a:cubicBezTo>
                    <a:pt x="630203" y="195620"/>
                    <a:pt x="205050" y="256580"/>
                    <a:pt x="86282" y="242610"/>
                  </a:cubicBezTo>
                  <a:cubicBezTo>
                    <a:pt x="53578" y="237530"/>
                    <a:pt x="41529" y="232450"/>
                    <a:pt x="26038" y="221020"/>
                  </a:cubicBezTo>
                  <a:cubicBezTo>
                    <a:pt x="12268" y="210860"/>
                    <a:pt x="219" y="191810"/>
                    <a:pt x="219" y="176570"/>
                  </a:cubicBezTo>
                  <a:cubicBezTo>
                    <a:pt x="-1503" y="161330"/>
                    <a:pt x="7104" y="141010"/>
                    <a:pt x="20874" y="129580"/>
                  </a:cubicBezTo>
                  <a:cubicBezTo>
                    <a:pt x="32923" y="118150"/>
                    <a:pt x="77676" y="104180"/>
                    <a:pt x="77676" y="104180"/>
                  </a:cubicBezTo>
                </a:path>
              </a:pathLst>
            </a:custGeom>
            <a:solidFill>
              <a:srgbClr val="F2B70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2004820">
            <a:off x="3367230" y="2040547"/>
            <a:ext cx="755199" cy="1084490"/>
          </a:xfrm>
          <a:custGeom>
            <a:avLst/>
            <a:gdLst/>
            <a:ahLst/>
            <a:cxnLst/>
            <a:rect r="r" b="b" t="t" l="l"/>
            <a:pathLst>
              <a:path h="1084490" w="755199">
                <a:moveTo>
                  <a:pt x="0" y="0"/>
                </a:moveTo>
                <a:lnTo>
                  <a:pt x="755200" y="0"/>
                </a:lnTo>
                <a:lnTo>
                  <a:pt x="755200" y="1084490"/>
                </a:lnTo>
                <a:lnTo>
                  <a:pt x="0" y="10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081043">
            <a:off x="13136227" y="5976568"/>
            <a:ext cx="755199" cy="1084490"/>
          </a:xfrm>
          <a:custGeom>
            <a:avLst/>
            <a:gdLst/>
            <a:ahLst/>
            <a:cxnLst/>
            <a:rect r="r" b="b" t="t" l="l"/>
            <a:pathLst>
              <a:path h="1084490" w="755199">
                <a:moveTo>
                  <a:pt x="0" y="0"/>
                </a:moveTo>
                <a:lnTo>
                  <a:pt x="755199" y="0"/>
                </a:lnTo>
                <a:lnTo>
                  <a:pt x="755199" y="1084490"/>
                </a:lnTo>
                <a:lnTo>
                  <a:pt x="0" y="1084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DAGnLEezw2o</dc:identifier>
  <dcterms:modified xsi:type="dcterms:W3CDTF">2011-08-01T06:04:30Z</dcterms:modified>
  <cp:revision>1</cp:revision>
  <dc:title>Soutenance Mémoire Université Présentation Bleu Jaune Gris Simple Moderne Organique</dc:title>
</cp:coreProperties>
</file>